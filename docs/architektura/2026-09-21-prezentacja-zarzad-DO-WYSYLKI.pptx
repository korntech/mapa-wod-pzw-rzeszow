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4846320" y="0"/>
            <a:ext cx="429768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0972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wód Okręgu PZW w Rzeszowie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560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Propozycja rozwiązania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Spotkanie z Zarządem Okręgu · jesień 2026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D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 Kornacki — projekt społeczny, kod otwarty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proponujemy — i ile to kosztuje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234440" cy="1417320"/>
          </a:xfrm>
          <a:prstGeom prst="roundRect">
            <a:avLst>
              <a:gd name="adj" fmla="val 5926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zbiorników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2103120"/>
            <a:ext cx="1088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stawy, wyrobiska, zbiorniki zaporowe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83080" y="1143000"/>
            <a:ext cx="1234440" cy="1417320"/>
          </a:xfrm>
          <a:prstGeom prst="roundRect">
            <a:avLst>
              <a:gd name="adj" fmla="val 5926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74520" y="11887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1828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odcinków rzek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856232" y="2103120"/>
            <a:ext cx="1088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wody nizinne i kraina pstrąga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1143000"/>
            <a:ext cx="1234440" cy="1417320"/>
          </a:xfrm>
          <a:prstGeom prst="roundRect">
            <a:avLst>
              <a:gd name="adj" fmla="val 5926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0" y="11887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1828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granic obwodów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182112" y="2103120"/>
            <a:ext cx="1088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punkty orientacyjne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34840" y="1143000"/>
            <a:ext cx="1234440" cy="1417320"/>
          </a:xfrm>
          <a:prstGeom prst="roundRect">
            <a:avLst>
              <a:gd name="adj" fmla="val 5926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11887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zł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18288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rocznie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07992" y="2103120"/>
            <a:ext cx="1088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baza, podkłady GUGiK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69748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Źródło danych: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oficjalny „Wykaz wód PZW Okręgu w Rzeszowie” na 2026 r.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Funkcje: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wyszukiwarka, filtry warstw, „Najbliżej mnie” z GPS, nawigacja do łowiska, zasady połowu w jednym kliknięciu.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operatora: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wyznaczone osoby z Okręgu poprawiają dane same, po zalogowaniu — bez programisty.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poprawy: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49 zbiorników 39 miało lokalizację przybliżoną; 10 poprawiono już automatycznie z danych GUGiK, 2 poprawił operator w panelu, 27 czeka na zatwierdzenie.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Wersja pokazowa: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korntech.github.io/mapa-wod-pzw-rzeszow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1005840"/>
            <a:ext cx="2011680" cy="3474720"/>
          </a:xfrm>
          <a:prstGeom prst="roundRect">
            <a:avLst>
              <a:gd name="adj" fmla="val 11364"/>
            </a:avLst>
          </a:prstGeom>
          <a:solidFill>
            <a:srgbClr val="0F3A4F"/>
          </a:solidFill>
          <a:ln w="12700">
            <a:solidFill>
              <a:srgbClr val="0F3A4F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088" y="1243584"/>
            <a:ext cx="1792224" cy="301752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995160" y="1088136"/>
            <a:ext cx="640080" cy="91440"/>
          </a:xfrm>
          <a:prstGeom prst="roundRect">
            <a:avLst>
              <a:gd name="adj" fmla="val 50000"/>
            </a:avLst>
          </a:prstGeom>
          <a:solidFill>
            <a:srgbClr val="2E5566"/>
          </a:solidFill>
          <a:ln w="12700">
            <a:solidFill>
              <a:srgbClr val="2E556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126480" y="450799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ilustracja poglądowa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wód Okręgu PZW w Rzeszowie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zyskuje wędkarz, co zyskuje Okręg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09160" y="109728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D7E9EC"/>
          </a:solidFill>
          <a:ln w="12700">
            <a:solidFill>
              <a:srgbClr val="D7E9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Wędkarz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98348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Okręg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1801368"/>
            <a:ext cx="420624" cy="420624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470" y="1902318"/>
            <a:ext cx="218724" cy="21872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8016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Znajduje łowisko w 10 sekund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057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zamiast szukać w 20-stronicowym PDF-ie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1520" y="2715768"/>
            <a:ext cx="420624" cy="420624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470" y="2816718"/>
            <a:ext cx="218724" cy="21872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80160" y="2697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Wie, gdzie jest granica obwodu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280160" y="2971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jakie zasady obowiązują — stojąc nad wodą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31520" y="3630168"/>
            <a:ext cx="420624" cy="420624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70" y="3731118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80160" y="3611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to w telefonie, także bez zasięgu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280160" y="3886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rozbudowie o tryb offline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983480" y="1801368"/>
            <a:ext cx="420624" cy="420624"/>
          </a:xfrm>
          <a:prstGeom prst="ellipse">
            <a:avLst/>
          </a:prstGeom>
          <a:solidFill>
            <a:srgbClr val="0F3A4F"/>
          </a:solidFill>
          <a:ln w="12700">
            <a:solidFill>
              <a:srgbClr val="0F3A4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430" y="1902318"/>
            <a:ext cx="218724" cy="2187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3212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aktualny wykaz dla wszystkich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532120" y="2057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koniec z nieaktualnymi kopiami i pytaniami „gdzie wolno”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983480" y="2715768"/>
            <a:ext cx="420624" cy="420624"/>
          </a:xfrm>
          <a:prstGeom prst="ellipse">
            <a:avLst/>
          </a:prstGeom>
          <a:solidFill>
            <a:srgbClr val="0F3A4F"/>
          </a:solidFill>
          <a:ln w="12700">
            <a:solidFill>
              <a:srgbClr val="0F3A4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430" y="2816718"/>
            <a:ext cx="218724" cy="21872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32120" y="2697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Aktualizuje sam, bez programisty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5532120" y="2971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zmienia dane w panelu, zmiana widoczna od razu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983480" y="3630168"/>
            <a:ext cx="420624" cy="420624"/>
          </a:xfrm>
          <a:prstGeom prst="ellipse">
            <a:avLst/>
          </a:prstGeom>
          <a:solidFill>
            <a:srgbClr val="0F3A4F"/>
          </a:solidFill>
          <a:ln w="12700">
            <a:solidFill>
              <a:srgbClr val="0F3A4F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4430" y="3731118"/>
            <a:ext cx="218724" cy="21872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532120" y="3611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Wizerunek nowoczesnego Okręgu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5532120" y="3886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narzędzie dla członków za 0 zł, otwarte na wkład wędkarzy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wód Okręgu PZW w Rzeszowie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Jak to działa — w trzech zdaniach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1490472"/>
            <a:ext cx="548640" cy="548640"/>
          </a:xfrm>
          <a:prstGeom prst="ellipse">
            <a:avLst/>
          </a:prstGeom>
          <a:solidFill>
            <a:srgbClr val="0F3A4F"/>
          </a:solidFill>
          <a:ln w="12700">
            <a:solidFill>
              <a:srgbClr val="0F3A4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0394" y="1622146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Okręgu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2395728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loguje się i poprawia łowiska — na laptopie lub telefonie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880360" y="1325880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D7E9EC"/>
          </a:solidFill>
          <a:ln w="12700">
            <a:solidFill>
              <a:srgbClr val="D7E9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11880" y="1490472"/>
            <a:ext cx="548640" cy="54864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554" y="1622146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7180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baza danych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990088" y="2395728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źródło prawdy dla mapy i telefonu; zapis tylko dla osób z listy Okręgu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303520" y="109728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920740" y="1207008"/>
            <a:ext cx="457200" cy="457200"/>
          </a:xfrm>
          <a:prstGeom prst="ellipse">
            <a:avLst/>
          </a:prstGeom>
          <a:solidFill>
            <a:srgbClr val="0F3A4F"/>
          </a:solidFill>
          <a:ln w="12700">
            <a:solidFill>
              <a:srgbClr val="0F3A4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468" y="131673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9496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w przeglądarce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413248" y="2029968"/>
            <a:ext cx="1472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rzeszow.pzw.pl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303520" y="265176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920740" y="2761488"/>
            <a:ext cx="457200" cy="457200"/>
          </a:xfrm>
          <a:prstGeom prst="ellipse">
            <a:avLst/>
          </a:prstGeom>
          <a:solidFill>
            <a:srgbClr val="0F3A4F"/>
          </a:solidFill>
          <a:ln w="12700">
            <a:solidFill>
              <a:srgbClr val="0F3A4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0468" y="287121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94960" y="32918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413248" y="3584448"/>
            <a:ext cx="1472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sama mapa jako aplikacja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7178040" y="1325880"/>
            <a:ext cx="1508760" cy="1920240"/>
          </a:xfrm>
          <a:prstGeom prst="roundRect">
            <a:avLst>
              <a:gd name="adj" fmla="val 4848"/>
            </a:avLst>
          </a:prstGeom>
          <a:solidFill>
            <a:srgbClr val="D7E9EC"/>
          </a:solidFill>
          <a:ln w="12700">
            <a:solidFill>
              <a:srgbClr val="D7E9E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658100" y="1490472"/>
            <a:ext cx="548640" cy="54864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9774" y="1622146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269480" y="21031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Kopia co noc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7287768" y="2395728"/>
            <a:ext cx="1289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automatyczna kopia danych; mapa działa nawet gdy baza ma awarię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2514600" y="2148840"/>
            <a:ext cx="320040" cy="274320"/>
          </a:xfrm>
          <a:prstGeom prst="rightArrow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937760" y="1664208"/>
            <a:ext cx="320040" cy="274320"/>
          </a:xfrm>
          <a:prstGeom prst="rightArrow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937760" y="3218688"/>
            <a:ext cx="320040" cy="274320"/>
          </a:xfrm>
          <a:prstGeom prst="rightArrow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812280" y="2148840"/>
            <a:ext cx="320040" cy="274320"/>
          </a:xfrm>
          <a:prstGeom prst="rightArrow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Wszystko bez własnego serwera: strona i kod w GitHub (organizacja Okręgu), baza w Supabase w darmowym progu, podkłady i dane przestrzenne wyłącznie z zasobów państwowych (GUGiK). Nic nie wymaga comiesięcznej obsługi — a jeśli coś przestanie działać, mapa pokazuje ostatnią kopię danych.</a:t>
            </a:r>
            <a:endParaRPr lang="en-US" sz="1150" dirty="0"/>
          </a:p>
        </p:txBody>
      </p:sp>
      <p:sp>
        <p:nvSpPr>
          <p:cNvPr id="33" name="Text 26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wód Okręgu PZW w Rzeszowie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Telefon: aplikacja ze strony, bez sklepu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25880"/>
            <a:ext cx="548640" cy="54864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4" y="145755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Instalacja w 2 dotknięciach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31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„Udostępnij → Do ekranu początkowego”. Ikona i pełny ekran jak zwykła aplikacja, na iPhonie i Androidzie.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46120" y="114300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0" y="1325880"/>
            <a:ext cx="548640" cy="54864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394" y="145755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Działa nad wodą bez zasięgu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331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łowisk, granice i zasady zapisane w telefonie; podkład mapy dla wybranej okolicy do pobrania wcześniej.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035040" y="114300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63640" y="1325880"/>
            <a:ext cx="548640" cy="54864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314" y="145755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poprawia sam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331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Loguje się i ustawia pinezkę na właściwym akwenie — bez programisty. System podpowiada kandydujące akweny z bazy GUGiK; 10 lokalizacji dopasowano automatycznie. Wędkarz może zgłosić błąd formularzem.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D7E9EC"/>
          </a:solidFill>
          <a:ln w="12700">
            <a:solidFill>
              <a:srgbClr val="D7E9E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858768"/>
            <a:ext cx="457200" cy="457200"/>
          </a:xfrm>
          <a:prstGeom prst="ellipse">
            <a:avLst/>
          </a:prstGeom>
          <a:solidFill>
            <a:srgbClr val="0F3A4F"/>
          </a:solidFill>
          <a:ln w="12700">
            <a:solidFill>
              <a:srgbClr val="0F3A4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96849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3730752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i Google Play — opcja na później. </a:t>
            </a:r>
            <a:pPr indent="0" marL="0">
              <a:buNone/>
            </a:pPr>
            <a:r>
              <a:rPr lang="en-US" sz="1100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sam kod da się opakować i wydać w sklepach; wymaga to konta Okręgu (Apple ok. 380 zł/rok, zwolnienie dla organizacji non-profit możliwe) i corocznej obsługi. Decyzja po pokazie wersji na telefon.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wód Okręgu PZW w Rzeszowie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Koszty roczne dla Okręgu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D7E9EC"/>
          </a:solidFill>
          <a:ln w="12700">
            <a:solidFill>
              <a:srgbClr val="D7E9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7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0–100 zł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Wariant rekomendowany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strona, baza, podkłady i aplikacja na telefon za 0 zł; do 100 zł tylko przy osobnej domenie (subdomena rzeszow.pzw.pl = 0 zł)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2070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REKOMENDACJA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280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ok. 400–500 zł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 sklepami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37744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obok + Apple Developer ok. 380 zł/rok (0 zł przy zwolnieniu non-profit) i Google Play ok. 95 zł jednorazowo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14300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280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F6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ok. 1 600 zł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płatną bazą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37744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obok + Supabase Pro (ok. 1 140 zł/rok): codzienne kopie u dostawcy i wsparcie. Zbędne — kopia w GitHub robi to samo za darmo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wód Okręgu PZW w Rzeszowie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Harmonogram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7498080" cy="0"/>
          </a:xfrm>
          <a:prstGeom prst="line">
            <a:avLst/>
          </a:prstGeom>
          <a:noFill/>
          <a:ln w="50800">
            <a:solidFill>
              <a:srgbClr val="D7E9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1554480"/>
            <a:ext cx="365760" cy="365760"/>
          </a:xfrm>
          <a:prstGeom prst="ellipse">
            <a:avLst/>
          </a:prstGeom>
          <a:solidFill>
            <a:srgbClr val="2A7F8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paź–gru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1920240" cy="2240280"/>
          </a:xfrm>
          <a:prstGeom prst="roundRect">
            <a:avLst>
              <a:gd name="adj" fmla="val 3810"/>
            </a:avLst>
          </a:prstGeom>
          <a:solidFill>
            <a:srgbClr val="D7E9EC"/>
          </a:solidFill>
          <a:ln w="12700">
            <a:solidFill>
              <a:srgbClr val="D7E9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Rozbudowa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6517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Porządki techniczne, automatyczne kopie, wersja na telefon z trybem offline, panel dopasowany do telefonu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554480"/>
            <a:ext cx="365760" cy="365760"/>
          </a:xfrm>
          <a:prstGeom prst="ellipse">
            <a:avLst/>
          </a:prstGeom>
          <a:solidFill>
            <a:srgbClr val="2A7F8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3756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 2027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0" y="2148840"/>
            <a:ext cx="1920240" cy="2240280"/>
          </a:xfrm>
          <a:prstGeom prst="roundRect">
            <a:avLst>
              <a:gd name="adj" fmla="val 3810"/>
            </a:avLst>
          </a:prstGeom>
          <a:solidFill>
            <a:srgbClr val="D7E9EC"/>
          </a:solidFill>
          <a:ln w="12700">
            <a:solidFill>
              <a:srgbClr val="D7E9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9748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Pokaz i szkolenie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26517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Pokaz wersji na telefon Zarządowi; szkolenie osoby kontaktowej (1 h); wprowadzenie wykazu na 2027 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40680" y="1554480"/>
            <a:ext cx="365760" cy="365760"/>
          </a:xfrm>
          <a:prstGeom prst="ellipse">
            <a:avLst/>
          </a:prstGeom>
          <a:solidFill>
            <a:srgbClr val="0F3A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406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kw. 2027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148840"/>
            <a:ext cx="1920240" cy="2240280"/>
          </a:xfrm>
          <a:prstGeom prst="roundRect">
            <a:avLst>
              <a:gd name="adj" fmla="val 3810"/>
            </a:avLst>
          </a:prstGeom>
          <a:solidFill>
            <a:srgbClr val="D7E9EC"/>
          </a:solidFill>
          <a:ln w="12700">
            <a:solidFill>
              <a:srgbClr val="D7E9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060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Przekazanie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26517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 i repozytorium na Okręg, subdomena, link ze strony rzeszow.pzw.pl, instrukcja, test przejęcia przez drugą osobę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543800" y="1554480"/>
            <a:ext cx="365760" cy="365760"/>
          </a:xfrm>
          <a:prstGeom prst="ellipse">
            <a:avLst/>
          </a:prstGeom>
          <a:solidFill>
            <a:srgbClr val="5F6F7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380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kw. 2027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66560" y="2148840"/>
            <a:ext cx="1920240" cy="2240280"/>
          </a:xfrm>
          <a:prstGeom prst="roundRect">
            <a:avLst>
              <a:gd name="adj" fmla="val 3810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0372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Sklepy (opcja)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26517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Tylko jeśli Zarząd tak zdecyduje: wydanie w App Store i Google Play na kontach Okręgu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Etapy 0–1 nie wymagają decyzji ani wydatków Okręgu i już się zaczynają. Tempo etapów 2–3 zależy głównie od szybkości ustaleń po stronie Okręgu.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wód Okręgu PZW w Rzeszowie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Odpowiedzialność, dane osobowe, ciągłość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52728"/>
            <a:ext cx="237744" cy="2377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11247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ma charakter poglądowy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139903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Wiążące pozostają zezwolenie i oficjalny wykaz. Treść zastrzeżenia do akceptacji przez Okręg; lokalizacje przybliżone są wyraźnie oznaczone.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856232"/>
            <a:ext cx="457200" cy="457200"/>
          </a:xfrm>
          <a:prstGeom prst="ellipse">
            <a:avLst/>
          </a:prstGeom>
          <a:solidFill>
            <a:srgbClr val="0F3A4F"/>
          </a:solidFill>
          <a:ln w="12700">
            <a:solidFill>
              <a:srgbClr val="0F3A4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83794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RODO: aplikacja nie zbiera danych wędkarzy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097280" y="2112264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Lokalizacja liczona wyłącznie w telefonie i nigdzie nie wysyłana. Jedyne konta to operatorzy (e-mail służbowy).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2569464"/>
            <a:ext cx="457200" cy="45720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67919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255117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konta należą do Okręgu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097280" y="2825496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Repozytorium, baza i domena w organizacjach Okręgu; autor jako współadministrator, nie właściciel.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82696"/>
            <a:ext cx="457200" cy="457200"/>
          </a:xfrm>
          <a:prstGeom prst="ellipse">
            <a:avLst/>
          </a:prstGeom>
          <a:solidFill>
            <a:srgbClr val="0F3A4F"/>
          </a:solidFill>
          <a:ln w="12700">
            <a:solidFill>
              <a:srgbClr val="0F3A4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392424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97280" y="32644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wyłącznie z polskich źródeł państwowych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097280" y="353872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Geometrie rzek i zbiorników z BDOT10k (GUGiK) — przebiegi 25 odcinków rzek pochodzą już z BDOT10k; geokodowanie z usługi UUG, podkłady z Geoportalu. Dane PZGiK są bezpłatne i do ponownego wykorzystania; jedyny wymóg to podanie źródła.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57200" y="3995928"/>
            <a:ext cx="457200" cy="457200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105656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97280" y="39776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otwarty (MIT); coroczna aktualizacja wykazu bez programisty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097280" y="42519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Dokumentacja w repozytorium — druga osoba stawia środowisko od zera w jeden wieczór. Operator wprowadza zmiany w panelu; kopie i kontrola działania strony przypominają o sobie same.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wód Okręgu PZW w Rzeszowie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Czego potrzebujemy od Okręgu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754880"/>
                <a:gridCol w="1280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Decyzja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Propozycja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Kiedy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Osoba do kontaktu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Jedna osoba z Zarządu lub biura: ustalenia mailowe i konto operatora do edycji danych (szkolenie 1 h). Do zatwierdzenia 27 lokalizacji zbiorników — system podpowiada kandydatów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dziś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Adres mapy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Subdomena mapa.rzeszow.pzw.pl — jeden wpis u administratora domeny, koszt 0 zł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kw. 2027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Własność kont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Organizacje GitHub i Supabase na e-mail Okręgu; autor jako współadministrator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kw. 2027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Sklepy z aplikacjami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Decyzja po pokazie wersji na telefon; jeśli tak — wniosek o zwolnienie Apple dla organizacji non-profit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styczeń 2027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Propozycja: brak sprzeciwu w ciągu 14 dni od spotkania oznacza zgodę na wariant domyślny — dzięki temu projekt nie czeka na kolejne posiedzenie.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wód Okręgu PZW w Rzeszowie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Ryzyka i jak je ograniczamy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0F3A4F"/>
          </a:solidFill>
          <a:ln w="12700">
            <a:solidFill>
              <a:srgbClr val="0F3A4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3560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3075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Błąd w danych wprowadzi wędkarza w błąd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5623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Zastrzeżenie w aplikacji, oznaczenie lokalizacji przybliżonych, weryfikacja zmian z wykazem przez operatora, formularz zgłaszania błędów.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09160" y="114300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4F8F9"/>
          </a:solidFill>
          <a:ln w="12700">
            <a:solidFill>
              <a:srgbClr val="F4F8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325880"/>
            <a:ext cx="457200" cy="457200"/>
          </a:xfrm>
          <a:prstGeom prst="ellipse">
            <a:avLst/>
          </a:prstGeom>
          <a:solidFill>
            <a:srgbClr val="0F3A4F"/>
          </a:solidFill>
          <a:ln w="12700">
            <a:solidFill>
              <a:srgbClr val="0F3A4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43560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3075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Dostawca darmowej usługi zmieni warunki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185623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i dane są otwarte i przenośne; nocna kopia w GitHub; przeniesienie bazy do innego dostawcy to godziny, nie tygodnie. Dane przestrzenne pochodzą z zasobów państwowych, więc nie zależą od żadnego dostawcy komercyjnego.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" y="288036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D7E9EC"/>
          </a:solidFill>
          <a:ln w="12700">
            <a:solidFill>
              <a:srgbClr val="D7E9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0F3A4F"/>
          </a:solidFill>
          <a:ln w="12700">
            <a:solidFill>
              <a:srgbClr val="0F3A4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17296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4440" y="30449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 przestanie rozwijać projekt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359359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Wszystko w repozytorium Okręgu z instrukcją od zera; test przejęcia przez drugą osobę jest warunkiem zakończenia przekazania.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709160" y="288036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D7E9EC"/>
          </a:solidFill>
          <a:ln w="12700">
            <a:solidFill>
              <a:srgbClr val="D7E9E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92040" y="3063240"/>
            <a:ext cx="457200" cy="457200"/>
          </a:xfrm>
          <a:prstGeom prst="ellipse">
            <a:avLst/>
          </a:prstGeom>
          <a:solidFill>
            <a:srgbClr val="0F3A4F"/>
          </a:solidFill>
          <a:ln w="12700">
            <a:solidFill>
              <a:srgbClr val="0F3A4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317296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86400" y="30449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Wędkarze nie znajdą mapy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4892040" y="359359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na stronie Okręgu, subdomena pzw.pl, informacja przy wydawaniu zezwoleń i w komunikatach Okręgu.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wód Okręgu PZW w Rzeszowie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4846320" y="0"/>
            <a:ext cx="429768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7315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Czego potrzebujemy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Akceptacji rozwiązania i wskazania jednej osoby do kontaktu po stronie Okręgu.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2423160"/>
            <a:ext cx="411480" cy="411480"/>
          </a:xfrm>
          <a:prstGeom prst="ellipse">
            <a:avLst/>
          </a:prstGeom>
          <a:solidFill>
            <a:srgbClr val="E0A93A"/>
          </a:solidFill>
          <a:ln w="12700">
            <a:solidFill>
              <a:srgbClr val="E0A9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24231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Dziś — </a:t>
            </a:r>
            <a:pPr indent="0" marL="0">
              <a:buNone/>
            </a:pPr>
            <a:r>
              <a:rPr lang="en-US" sz="13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osoba do kontaktu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411480" cy="411480"/>
          </a:xfrm>
          <a:prstGeom prst="ellipse">
            <a:avLst/>
          </a:prstGeom>
          <a:solidFill>
            <a:srgbClr val="E0A93A"/>
          </a:solidFill>
          <a:ln w="12700">
            <a:solidFill>
              <a:srgbClr val="E0A9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3063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końca listopada — </a:t>
            </a:r>
            <a:pPr indent="0" marL="0">
              <a:buNone/>
            </a:pPr>
            <a:r>
              <a:rPr lang="en-US" sz="13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konto operatora i pierwsze poprawki lokalizacji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703320"/>
            <a:ext cx="411480" cy="411480"/>
          </a:xfrm>
          <a:prstGeom prst="ellipse">
            <a:avLst/>
          </a:prstGeom>
          <a:solidFill>
            <a:srgbClr val="E0A93A"/>
          </a:solidFill>
          <a:ln w="12700">
            <a:solidFill>
              <a:srgbClr val="E0A9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37033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Styczeń 2027 — </a:t>
            </a:r>
            <a:pPr indent="0" marL="0">
              <a:buNone/>
            </a:pPr>
            <a:r>
              <a:rPr lang="en-US" sz="13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pokaz na telefon, szkolenie, wykaz 2027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3434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 Kornacki · kamilkornacki@icloud.com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DB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korntech.github.io/mapa-wod-pzw-rzeszow · kod: github.com/korntech/mapa-wod-pzw-rzeszow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Mapa wód Okręgu PZW w Rzeszowie — propozycja rozwiązania</dc:title>
  <dc:subject>PptxGenJS Presentation</dc:subject>
  <dc:creator>Kamil Kornacki</dc:creator>
  <cp:lastModifiedBy>Kamil Kornacki</cp:lastModifiedBy>
  <cp:revision>1</cp:revision>
  <dcterms:created xsi:type="dcterms:W3CDTF">2026-09-21T14:37:57Z</dcterms:created>
  <dcterms:modified xsi:type="dcterms:W3CDTF">2026-09-21T14:37:57Z</dcterms:modified>
</cp:coreProperties>
</file>